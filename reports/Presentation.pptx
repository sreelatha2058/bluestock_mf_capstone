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NAV Trend 2022–2025 (Selected Funds)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SBI Bluechip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May'25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52.1</c:v>
                </c:pt>
                <c:pt idx="1">
                  <c:v>55.3</c:v>
                </c:pt>
                <c:pt idx="2">
                  <c:v>59.8</c:v>
                </c:pt>
                <c:pt idx="3">
                  <c:v>65.2</c:v>
                </c:pt>
                <c:pt idx="4">
                  <c:v>72.099999999999994</c:v>
                </c:pt>
                <c:pt idx="5">
                  <c:v>78.400000000000006</c:v>
                </c:pt>
                <c:pt idx="6">
                  <c:v>83.6</c:v>
                </c:pt>
                <c:pt idx="7">
                  <c:v>88.2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D84-49A3-AB15-A29C5AD0B6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HDFC Top 100</c:v>
                </c:pt>
              </c:strCache>
            </c:strRef>
          </c:tx>
          <c:spPr>
            <a:ln w="25400" cap="flat">
              <a:solidFill>
                <a:srgbClr val="0D21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2137"/>
              </a:solidFill>
              <a:ln w="9525" cap="flat">
                <a:solidFill>
                  <a:srgbClr val="0D213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May'25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680</c:v>
                </c:pt>
                <c:pt idx="1">
                  <c:v>720</c:v>
                </c:pt>
                <c:pt idx="2">
                  <c:v>770</c:v>
                </c:pt>
                <c:pt idx="3">
                  <c:v>820</c:v>
                </c:pt>
                <c:pt idx="4">
                  <c:v>860</c:v>
                </c:pt>
                <c:pt idx="5">
                  <c:v>892</c:v>
                </c:pt>
                <c:pt idx="6">
                  <c:v>930</c:v>
                </c:pt>
                <c:pt idx="7">
                  <c:v>952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D84-49A3-AB15-A29C5AD0B6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ICICI Bluechip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May'25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62</c:v>
                </c:pt>
                <c:pt idx="1">
                  <c:v>67</c:v>
                </c:pt>
                <c:pt idx="2">
                  <c:v>72</c:v>
                </c:pt>
                <c:pt idx="3">
                  <c:v>78</c:v>
                </c:pt>
                <c:pt idx="4">
                  <c:v>85</c:v>
                </c:pt>
                <c:pt idx="5">
                  <c:v>91</c:v>
                </c:pt>
                <c:pt idx="6">
                  <c:v>97</c:v>
                </c:pt>
                <c:pt idx="7">
                  <c:v>103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D84-49A3-AB15-A29C5AD0B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AUM by AMC — Dec 2025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lakh crore)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</c:v>
                </c:pt>
                <c:pt idx="4">
                  <c:v>Kotak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10.74</c:v>
                </c:pt>
                <c:pt idx="2">
                  <c:v>9.3000000000000007</c:v>
                </c:pt>
                <c:pt idx="3">
                  <c:v>4.8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DA-4141-B302-34E0677BFA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Monthly SIP Inflows 2022–2025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Crore)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Dec'25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11000</c:v>
                </c:pt>
                <c:pt idx="1">
                  <c:v>12500</c:v>
                </c:pt>
                <c:pt idx="2">
                  <c:v>14000</c:v>
                </c:pt>
                <c:pt idx="3">
                  <c:v>16500</c:v>
                </c:pt>
                <c:pt idx="4">
                  <c:v>19000</c:v>
                </c:pt>
                <c:pt idx="5">
                  <c:v>23000</c:v>
                </c:pt>
                <c:pt idx="6">
                  <c:v>26000</c:v>
                </c:pt>
                <c:pt idx="7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302-4773-9DC4-175F6D574F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SIP Amount by State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Amount (₹ Cr)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Maharashtra</c:v>
                </c:pt>
                <c:pt idx="1">
                  <c:v>Karnataka</c:v>
                </c:pt>
                <c:pt idx="2">
                  <c:v>Delhi</c:v>
                </c:pt>
                <c:pt idx="3">
                  <c:v>Gujarat</c:v>
                </c:pt>
                <c:pt idx="4">
                  <c:v>Tamil Nadu</c:v>
                </c:pt>
                <c:pt idx="5">
                  <c:v>Rajasthan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5400</c:v>
                </c:pt>
                <c:pt idx="2">
                  <c:v>7100</c:v>
                </c:pt>
                <c:pt idx="3">
                  <c:v>4800</c:v>
                </c:pt>
                <c:pt idx="4">
                  <c:v>4200</c:v>
                </c:pt>
                <c:pt idx="5">
                  <c:v>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7-4271-99BB-08A5991C9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Fund vs Benchmark (Indexed 100)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Mirae Asset LC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Jan'22</c:v>
                </c:pt>
                <c:pt idx="1">
                  <c:v>Jan'23</c:v>
                </c:pt>
                <c:pt idx="2">
                  <c:v>Jan'24</c:v>
                </c:pt>
                <c:pt idx="3">
                  <c:v>Jan'25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112</c:v>
                </c:pt>
                <c:pt idx="2">
                  <c:v>130</c:v>
                </c:pt>
                <c:pt idx="3">
                  <c:v>153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242-4B44-87A5-9E6DCBAA54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Nifty 50</c:v>
                </c:pt>
              </c:strCache>
            </c:strRef>
          </c:tx>
          <c:spPr>
            <a:ln w="25400" cap="flat">
              <a:solidFill>
                <a:srgbClr val="0D21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2137"/>
              </a:solidFill>
              <a:ln w="9525" cap="flat">
                <a:solidFill>
                  <a:srgbClr val="0D2137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Jan'22</c:v>
                </c:pt>
                <c:pt idx="1">
                  <c:v>Jan'23</c:v>
                </c:pt>
                <c:pt idx="2">
                  <c:v>Jan'24</c:v>
                </c:pt>
                <c:pt idx="3">
                  <c:v>Jan'25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106</c:v>
                </c:pt>
                <c:pt idx="2">
                  <c:v>120</c:v>
                </c:pt>
                <c:pt idx="3">
                  <c:v>140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242-4B44-87A5-9E6DCBAA54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Nifty 100</c:v>
                </c:pt>
              </c:strCache>
            </c:strRef>
          </c:tx>
          <c:spPr>
            <a:ln w="254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Jan'22</c:v>
                </c:pt>
                <c:pt idx="1">
                  <c:v>Jan'23</c:v>
                </c:pt>
                <c:pt idx="2">
                  <c:v>Jan'24</c:v>
                </c:pt>
                <c:pt idx="3">
                  <c:v>Jan'25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107</c:v>
                </c:pt>
                <c:pt idx="2">
                  <c:v>122</c:v>
                </c:pt>
                <c:pt idx="3">
                  <c:v>142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242-4B44-87A5-9E6DCBAA54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55EB63F2-58C3-4DE4-AA1D-3ED81E6BF63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800541" cy="548594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9F457518-E707-413E-A07A-0DAFF983600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143244" cy="5485946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5A3E1E49-CE0E-4749-9DC5-630C2CD398D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800541" cy="4571622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D7429660-044B-44F8-AA8E-9D9B653C2542}"/>
            </a:ext>
          </a:extLst>
        </cdr:cNvPr>
        <cdr:cNvPicPr preferRelativeResize="0">
          <a:picLocks xmlns:a="http://schemas.openxmlformats.org/drawingml/2006/main"/>
        </cdr:cNvPicPr>
      </cdr:nvPicPr>
      <cdr:blipFill rotWithShape="1">
        <a:blip xmlns:a="http://schemas.openxmlformats.org/drawingml/2006/main" xmlns:r="http://schemas.openxmlformats.org/officeDocument/2006/relationships" r:embed="rId1"/>
        <a:srcRect xmlns:a="http://schemas.openxmlformats.org/drawingml/2006/main" r="17692" b="39798"/>
        <a:stretch xmlns:a="http://schemas.openxmlformats.org/drawingml/2006/main"/>
      </cdr:blipFill>
      <cdr:spPr>
        <a:xfrm xmlns:a="http://schemas.openxmlformats.org/drawingml/2006/main">
          <a:off x="0" y="0"/>
          <a:ext cx="3158490" cy="2542032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74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550621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5EEAD4"/>
                </a:solidFill>
              </a:rPr>
              <a:t>BLUESTOCK FINTECH  |  CAPSTONE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6381"/>
            <a:ext cx="594360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Mutual Fund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Analytics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242261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EEAD4"/>
                </a:solidFill>
              </a:rPr>
              <a:t>End-to-End Data Engineering, ETL Pipeline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EEAD4"/>
                </a:solidFill>
              </a:rPr>
              <a:t>&amp; Interactive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097280"/>
            <a:ext cx="2286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40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Fund Schemes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2286000"/>
            <a:ext cx="2286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87K+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2770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Data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3474720"/>
            <a:ext cx="2286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4.5 Yrs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92240" y="3959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NAV History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Technologies: Python  •  SQL  •  Power BI / Tableau  •  Pandas  •  Matplotlib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June 2026</a:t>
            </a:r>
            <a:endParaRPr lang="en-US" sz="10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7B4C70A5-E1E8-4DFA-A94C-490453B5E54C}"/>
              </a:ext>
            </a:extLst>
          </p:cNvPr>
          <p:cNvSpPr/>
          <p:nvPr/>
        </p:nvSpPr>
        <p:spPr>
          <a:xfrm>
            <a:off x="347472" y="3327654"/>
            <a:ext cx="4675632" cy="136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By: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Yarragunta Sreelatha Reddy</a:t>
            </a:r>
          </a:p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Bluestock</a:t>
            </a:r>
            <a:r>
              <a:rPr lang="en-US" sz="1600" b="1" dirty="0">
                <a:solidFill>
                  <a:srgbClr val="FFFFFF"/>
                </a:solidFill>
              </a:rPr>
              <a:t> Fintech MJ28(Intern)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Team: 215FMBF</a:t>
            </a:r>
          </a:p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137"/>
                </a:solidFill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</a:rPr>
              <a:t>PROBLEMS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1403604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538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Data Fragmentation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NAV, AUM, SIP data scattered across sources in different formats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93976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93976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30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No Benchmark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Investors can't tell if their fund beats the index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70632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072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Performance Blind Spot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 easy way to compare risk-adjusted returns across AMCs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47288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83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Investor Behaviour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Geographic &amp; demographic insights missing for distributors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23944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23944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60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Slow Reporting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799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Static PDFs take days; no drill-down capability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4996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996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" name="Text 25"/>
          <p:cNvSpPr/>
          <p:nvPr/>
        </p:nvSpPr>
        <p:spPr>
          <a:xfrm>
            <a:off x="502920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Build automated ETL pipeline from AMFI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9202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920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Design normalised 5-table SQL star schema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3408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3408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2322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Perform comprehensive EDA on NAV &amp; AUM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7614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61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Compute Sharpe, Sortino, Alpha, Beta, VaR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1821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182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0" y="3163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Build 4-page interactive BI dashboard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6027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Analyse investor transactions by demographics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0233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Compare fund returns vs Nifty 50 / 100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44439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4439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0" y="4425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Document and present the complete project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Data Sources &amp; Datasets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10 datasets  •  87,000+ rows  •  4.5 years of history  •  All publicly available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28930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fund_master.csv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508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40 rows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40 real schemes — AMFI codes, fund house, category, expense ratio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344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28930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nav_history.csv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67528" y="1508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~46,000 rows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67528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Daily NAV Jan 2022–May 2026, anchored to real mfapi.in values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67128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6712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aum_by_fund_house.csv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2441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~90 rows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" y="2624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Quarterly AUM for 10 fund houses 2022–2025 from AMFI reports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0600" y="2167128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167128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16712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67528" y="22219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monthly_sip_inflows.csv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67528" y="2441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48 rows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67528" y="2624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Real AMFI Monthly Note data — inflows, accounts, SIP AUM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099816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99816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9981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4128" y="3154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category_inflows.csv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4128" y="33741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~144 rows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4128" y="35570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Net inflows by fund category for FY 2024-25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3099816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099816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09981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67528" y="3154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scheme_performance.csv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67528" y="33741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40 rows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67528" y="35570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1yr/3yr/5yr returns, Sharpe, Sortino, Alpha, Beta, Max Drawdown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4032504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32504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3250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24128" y="40873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investor_transactions.csv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24128" y="43068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~32,000 rows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24128" y="44897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SIP + Lumpsum + Redemption transactions for 5,000 investors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4032504"/>
            <a:ext cx="4023360" cy="804672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4032504"/>
            <a:ext cx="50292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403250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10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67528" y="40873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benchmark_indices.csv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67528" y="43068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~8,000 rows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67528" y="44897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Daily values for Nifty 50, Nifty 100, Nifty Midcap 150, BSE SmallCap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 &amp; ETL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572768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00584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EXTRACT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2286000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AMFI Daily NAV TXT  •  mfapi.in REST API  •  NSE/BSE Bhavcopy  •  Pre-packaged CSVs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38528" y="2514600"/>
            <a:ext cx="146304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914400"/>
            <a:ext cx="157276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100584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84832" y="16002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TRANSFORM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19202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</a:rPr>
              <a:t>Python / Pandas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57984" y="2286000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Parse &amp; clean  •  Forward-fill holidays  •  Compute daily returns  •  Validate AMFI codes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0" y="2514600"/>
            <a:ext cx="146304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914400"/>
            <a:ext cx="1572768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1688" y="100584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03904" y="16002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LOAD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03904" y="19202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</a:rPr>
              <a:t>SQLite Database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77056" y="2286000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5-table star schema  •  dim_fund, dim_date, fact_nav, fact_transactions, fact_performance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76672" y="2514600"/>
            <a:ext cx="146304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2976" y="914400"/>
            <a:ext cx="1572768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00584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2976" y="16002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ANALYSE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22976" y="19202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</a:rPr>
              <a:t>Jupyter Notebooks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96128" y="2286000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EDA  •  Sharpe / Sortino / Alpha / Beta  •  VaR  •  Cohort analysis  •  Geo heatmap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95744" y="2514600"/>
            <a:ext cx="146304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914400"/>
            <a:ext cx="157276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9832" y="100584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9832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42048" y="16002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VISUALISE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42048" y="19202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</a:rPr>
              <a:t> Tableau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2286000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</a:rPr>
              <a:t>4 report pages  •  Slicers  •    Drill-through  •  PDF export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Mirrors real-world fintech data pipelines used at Zerodha, Groww and Paytm Money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EDA Highlights — NAV &amp; AUM Trends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707653726"/>
              </p:ext>
            </p:extLst>
          </p:nvPr>
        </p:nvGraphicFramePr>
        <p:xfrm>
          <a:off x="457200" y="91440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312110599"/>
              </p:ext>
            </p:extLst>
          </p:nvPr>
        </p:nvGraphicFramePr>
        <p:xfrm>
          <a:off x="5669280" y="914400"/>
          <a:ext cx="3291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06240"/>
            <a:ext cx="27432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Rs. 62.74L Cr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5537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Industry AUM Dec 2025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383280" y="4206240"/>
            <a:ext cx="27432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8328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Rs. 31,002 Cr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383280" y="45537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Record SIP Inflow Dec 2025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09360" y="4206240"/>
            <a:ext cx="27432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936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26.12 Cr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360" y="45537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Total MF Folios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EDA Highlights — SIP &amp; Investor Analytics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802931235"/>
              </p:ext>
            </p:extLst>
          </p:nvPr>
        </p:nvGraphicFramePr>
        <p:xfrm>
          <a:off x="457200" y="91440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849482957"/>
              </p:ext>
            </p:extLst>
          </p:nvPr>
        </p:nvGraphicFramePr>
        <p:xfrm>
          <a:off x="5394960" y="914400"/>
          <a:ext cx="3158490" cy="2542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Investor Age Distribution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57200" y="4114800"/>
            <a:ext cx="155448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1513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18–25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4074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12%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194560" y="4114800"/>
            <a:ext cx="155448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194560" y="41513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26–35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194560" y="44074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38%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931920" y="4114800"/>
            <a:ext cx="155448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31920" y="41513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36–45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931920" y="44074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29%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0" y="4114800"/>
            <a:ext cx="155448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0" y="41513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46–55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669280" y="44074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14%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406640" y="4114800"/>
            <a:ext cx="155448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06640" y="41513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56+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406640" y="44074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Fund Performance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060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0604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CAGR (3yr)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Formula: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(NAVₑₙ꜀ / NAVₛₜₐᵣₜ)^(1/3) − 1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result: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Mirae Asset Large Cap: 18.4%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060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14400"/>
            <a:ext cx="260604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Sharpe Ratio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Formula: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0" y="1508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(Rₚ − Rᶠ) / σₚ × √252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8288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result: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HDFC Top 100: 1.42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26060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914400"/>
            <a:ext cx="260604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914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Alpha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3258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Formula: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0" y="1508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Fund Return − Benchmark Return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18288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result: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26480" y="2011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SBI Bluechip: +3.2%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26060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651760"/>
            <a:ext cx="260604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Formula: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246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OLS regression vs Nifty 100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5661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result: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Range: 0.78 – 1.21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2651760"/>
            <a:ext cx="26060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651760"/>
            <a:ext cx="260604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Sortino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30632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Formula: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91840" y="3246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(Rₚ − Rᶠ) / Downside σ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35661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result: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9184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ICICI Bluechip: 1.85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2651760"/>
            <a:ext cx="26060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651760"/>
            <a:ext cx="260604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Max Drawdown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26480" y="30632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Formula: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3246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min(NAV / running_max − 1)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35661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result: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2648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Worst: −21.3% (2022)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4531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Fund Scorecard:  30% × 3yr Return Rank  +  25% × Sharpe Rank  +  20% × Alpha Rank  +  15% × Expense Ratio (inv.)  +  10% × Max DD (inv.)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Fund Scorecard &amp; Benchmark Comparison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457200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 DD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SBI Bluechip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16.8%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+3.2%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-18.4%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HDFC Top 100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+2.9%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-19.1%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Mirae Asset LC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+4.1%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-17.8%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ICICI Bluechip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+2.5%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-20.3%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78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Axis Bluechip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-22.1%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5212080" y="91440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Funds are ranked using a composite weighted score. Top performer: Mirae Asset Large Cap (Score: 87/100)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 Screenshots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</a:rPr>
              <a:t>Power BI / Tableau — 4 Interactive Pages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0840" y="1005840"/>
            <a:ext cx="4114800" cy="374904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EEAD4"/>
                </a:solidFill>
              </a:rPr>
              <a:t>PAGE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32715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Fund Scorecard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6890" y="1651635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Score  •  Alpha  •  Sharpe  •  Max Drawdown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All 40 funds with sortable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Slicers: Fund House, 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5790" y="2377440"/>
            <a:ext cx="1188720" cy="502920"/>
          </a:xfrm>
          <a:prstGeom prst="rect">
            <a:avLst/>
          </a:prstGeom>
          <a:solidFill>
            <a:srgbClr val="0D4F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420" y="2377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</a:rPr>
              <a:t>AUM: ₹62.74L Cr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92300" y="2377440"/>
            <a:ext cx="1188720" cy="502920"/>
          </a:xfrm>
          <a:prstGeom prst="rect">
            <a:avLst/>
          </a:prstGeom>
          <a:solidFill>
            <a:srgbClr val="0D4F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300" y="2377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</a:rPr>
              <a:t>SIP: ₹31K Cr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18180" y="2377440"/>
            <a:ext cx="1188720" cy="502920"/>
          </a:xfrm>
          <a:prstGeom prst="rect">
            <a:avLst/>
          </a:prstGeom>
          <a:solidFill>
            <a:srgbClr val="0D4F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180" y="2377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</a:rPr>
              <a:t>Folios: 26.12Cr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42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EEAD4"/>
                </a:solidFill>
              </a:rPr>
              <a:t>PAGE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35001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NAV Trend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1666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6 selected funds  •  Jan 2022 – May 2026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Line chart with benchmark overlay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Slicer: Date Range, Fund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42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Note: Export each dashboard page as PNG from Power BI (File → Export → Export to PNG) and insert above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14EF08-C9A0-428F-883B-3583ACD24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980" y="2468880"/>
            <a:ext cx="3530600" cy="21945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984F327-F3CA-4231-B6F3-4CA1A625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2950670"/>
            <a:ext cx="3136900" cy="1758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 Screenshots (continued)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4124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EEAD4"/>
                </a:solidFill>
              </a:rPr>
              <a:t>PAGE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Investor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Transaction amounts by state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12 Indian states  •  T30 vs B30 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SIP vs Lumpsum vs Redemption donut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Age group vs avg SIP bar chart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4124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EEAD4"/>
                </a:solidFill>
              </a:rPr>
              <a:t>PAGE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170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SIP &amp; Market Trends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Monthly SIP inflows 2022–2025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Dual-axis: SIP bar + Nifty 50 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Category inflows heatmap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KPI: SIP account growth YoY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[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6D4199-E756-4309-A510-4BEA6183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71750"/>
            <a:ext cx="3931920" cy="2247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3688E3-EDA4-4E12-8634-1ABCE5755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571750"/>
            <a:ext cx="393192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Key Findings &amp;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502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969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Industry Growth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2618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Industry AUM hit ₹81 lakh crore in Dec 2025. SBI MF leads with ₹12.5L Cr — nearly 2× the nearest competitor. Monthly SIP inflows reached an all-time high of ₹31,002 Cr.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14400"/>
            <a:ext cx="502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76088" y="969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Best Performer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76088" y="12618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Mirae Asset Large Cap topped the composite scorecard (87/100) with 18.4% CAGR, Alpha of +4.1% vs Nifty 100, and lowest drawdown among large-cap peers.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86000"/>
            <a:ext cx="502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23408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Risk Metrics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26334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Funds with the highest Sharpe ratios (&gt;1.3) delivered consistent alpha. Liquid funds showed near-zero drawdown and low beta, confirming their defensive role in portfolios.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286000"/>
            <a:ext cx="502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377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76088" y="23408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Investor Behaviour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76088" y="26334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26–35 age group drives 38% of all SIP transactions. Maharashtra and Delhi account for 42% of total transaction value. T30 cities contribute 78% of inflows.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57600"/>
            <a:ext cx="502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49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3712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SIP Momentum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40050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Active SIP accounts grew from 4.1 Cr (Jan 2022) to 9.35 Cr (Dec 2025) — a 128% increase. Monthly new SIP registrations consistently exceeded 30 lakh from 2024 onwards.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6576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657600"/>
            <a:ext cx="502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749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76088" y="3712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Portfolio Concentration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76088" y="40050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Financial services (28%), IT (18%) and FMCG (12%) dominate equity fund holdings. Mid-cap funds show higher HHI concentration, contributing to elevated max drawdowns.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EEAD4"/>
                </a:solidFill>
              </a:rPr>
              <a:t>Mutual Fund Analytics Platform — Bluestock Fintech Capstone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0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EEAD4"/>
                </a:solidFill>
              </a:rPr>
              <a:t>Deliverables Submitted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✓ ETL Pipeline Script (Python)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2743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✓ SQLite Database + Schema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✓ EDA Notebook (15+ charts)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5080" y="2743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✓ Performance Analytics Notebook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✓ Interactive Dashboard (.pbix/.twbx)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3108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✓ Advanced Analytics + VaR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✓ Final Report PDF + This Deck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Data Sources: AMFI India  •  mfapi.in  •  NSE/BSE  •  All data for educational purposes only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GitHub: github.com/Sreelatha2058/bluestock_mf_capstone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1330</Words>
  <Application>Microsoft Office PowerPoint</Application>
  <PresentationFormat>On-screen Show (16:9)</PresentationFormat>
  <Paragraphs>269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Bluestock Fintech Intern</dc:creator>
  <cp:lastModifiedBy>Yarragunta Sreelatha Reddy</cp:lastModifiedBy>
  <cp:revision>2</cp:revision>
  <dcterms:created xsi:type="dcterms:W3CDTF">2026-06-06T10:36:38Z</dcterms:created>
  <dcterms:modified xsi:type="dcterms:W3CDTF">2026-06-06T11:46:08Z</dcterms:modified>
</cp:coreProperties>
</file>